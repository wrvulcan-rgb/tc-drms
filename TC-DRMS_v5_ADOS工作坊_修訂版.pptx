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開場30秒：各位學長，今天不是來看產品的。我先講一個現場：紙本報到、十幾個 LINE 群、150 多條家訪動線靠人腦記——斷的不是網路，是資訊鏈。我的設計理念只有兩句：第一，平時就在用的系統，災時才用得起來；第二，志工的手機裡不需要多一個 APP。接下來一小時，請各位幫我把這兩句話背後的 Domain、Event、Decision 對齊。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講者：今天所有架構討論，都是為了修這條鏈。｜「150+ 條家訪動線」出自 LOA_ROLES_SPEC 引台南強震安心家訪紀錄，上台前口頭確認數字。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對 IT 講：事件隔離＝多災並行不互汙、稽核乾淨、影響範圍可控。｜被問「切開後怎麼合回來」：master 資料唯讀引用、事件庫只寫事件資料、結案回寫摘要。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被問「LINE 掛了怎麼辦」：入口可降級（紙本 QR 備援），資料層不依賴 LINE——LINE 只是路由器，不是資料庫。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貼紙討論預埋這八個物件——從空白開始但不從零開始（出自 ARCH_V2 五鏈）。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現況自己先講＝主導權在你；被問出來就變「原來是空的」。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本頁依 ARCH_V2 HEALTH 現況重建；如你原本的路線圖更完整，直接替換本頁。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備而不發：只在被問「戰時誰能決定什麼」「權限會不會亂」時翻出來。內容出自 AUTH_MATRIX_SPEC §4.5。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58968" y="2084831"/>
            <a:ext cx="1280160" cy="54864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9994392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C07F1F"/>
                </a:solidFill>
                <a:latin typeface="Microsoft JhengHei"/>
                <a:ea typeface="Microsoft JhengHei"/>
              </a:rPr>
              <a:t>TC-DRMS v5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4400" b="1" i="0">
                <a:solidFill>
                  <a:srgbClr val="FFFFFF"/>
                </a:solidFill>
                <a:latin typeface="Microsoft JhengHei"/>
                <a:ea typeface="Microsoft JhengHei"/>
              </a:rPr>
              <a:t>ADOS 架構對齊工作坊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B9CDE2"/>
                </a:solidFill>
                <a:latin typeface="Microsoft JhengHei"/>
                <a:ea typeface="Microsoft JhengHei"/>
              </a:rPr>
              <a:t>Domain × Event ×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943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9CDE2"/>
                </a:solidFill>
                <a:latin typeface="Microsoft JhengHei"/>
                <a:ea typeface="Microsoft JhengHei"/>
              </a:rPr>
              <a:t>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457200" cy="50292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6B7B"/>
                </a:solidFill>
                <a:latin typeface="Microsoft JhengHei"/>
                <a:ea typeface="Microsoft JhengHei"/>
              </a:rPr>
              <a:t>AGENDA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今天要做什麼？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49240" cy="42062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B63A2E"/>
                </a:solidFill>
                <a:latin typeface="Microsoft JhengHei"/>
                <a:ea typeface="Microsoft JhengHei"/>
              </a:rPr>
              <a:t>✕ 今天不討論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A6B7B"/>
                </a:solidFill>
                <a:latin typeface="Microsoft JhengHei"/>
                <a:ea typeface="Microsoft JhengHei"/>
              </a:rPr>
              <a:t>—  產品功能細節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A6B7B"/>
                </a:solidFill>
                <a:latin typeface="Microsoft JhengHei"/>
                <a:ea typeface="Microsoft JhengHei"/>
              </a:rPr>
              <a:t>—  UI 畫面與操作流程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5A6B7B"/>
                </a:solidFill>
                <a:latin typeface="Microsoft JhengHei"/>
                <a:ea typeface="Microsoft JhengHei"/>
              </a:rPr>
              <a:t>—  個別系統偏好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737360"/>
            <a:ext cx="5349240" cy="420624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 i="0">
                <a:solidFill>
                  <a:srgbClr val="C07F1F"/>
                </a:solidFill>
                <a:latin typeface="Microsoft JhengHei"/>
                <a:ea typeface="Microsoft JhengHei"/>
              </a:rPr>
              <a:t>✓ 專注對齊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</a:rPr>
              <a:t>Domain  </a:t>
            </a:r>
            <a:r>
              <a:rPr sz="1700" b="0" i="0">
                <a:solidFill>
                  <a:srgbClr val="B9CDE2"/>
                </a:solidFill>
                <a:latin typeface="Microsoft JhengHei"/>
                <a:ea typeface="Microsoft JhengHei"/>
              </a:rPr>
              <a:t>領域模型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</a:rPr>
              <a:t>Event  </a:t>
            </a:r>
            <a:r>
              <a:rPr sz="1700" b="0" i="0">
                <a:solidFill>
                  <a:srgbClr val="B9CDE2"/>
                </a:solidFill>
                <a:latin typeface="Microsoft JhengHei"/>
                <a:ea typeface="Microsoft JhengHei"/>
              </a:rPr>
              <a:t>關鍵事件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</a:rPr>
              <a:t>Decision  </a:t>
            </a:r>
            <a:r>
              <a:rPr sz="1700" b="0" i="0">
                <a:solidFill>
                  <a:srgbClr val="B9CDE2"/>
                </a:solidFill>
                <a:latin typeface="Microsoft JhengHei"/>
                <a:ea typeface="Microsoft JhengHei"/>
              </a:rPr>
              <a:t>智慧決策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457200" cy="50292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6B7B"/>
                </a:solidFill>
                <a:latin typeface="Microsoft JhengHei"/>
                <a:ea typeface="Microsoft JhengHei"/>
              </a:rPr>
              <a:t>WHY NOW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問題：斷的不是網路，是資訊鏈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349240" cy="129844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6324F"/>
                </a:solidFill>
                <a:latin typeface="Microsoft JhengHei"/>
                <a:ea typeface="Microsoft JhengHei"/>
              </a:rPr>
              <a:t>紙本報到簿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B7B"/>
                </a:solidFill>
                <a:latin typeface="Microsoft JhengHei"/>
                <a:ea typeface="Microsoft JhengHei"/>
              </a:rPr>
              <a:t>人數永遠對不上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56232"/>
            <a:ext cx="64008" cy="969264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99632" y="1691640"/>
            <a:ext cx="5349240" cy="129844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6324F"/>
                </a:solidFill>
                <a:latin typeface="Microsoft JhengHei"/>
                <a:ea typeface="Microsoft JhengHei"/>
              </a:rPr>
              <a:t>十幾個 LINE 群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B7B"/>
                </a:solidFill>
                <a:latin typeface="Microsoft JhengHei"/>
                <a:ea typeface="Microsoft JhengHei"/>
              </a:rPr>
              <a:t>重要通報被訊息洪水洗掉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856232"/>
            <a:ext cx="64008" cy="969264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172968"/>
            <a:ext cx="5349240" cy="129844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6324F"/>
                </a:solidFill>
                <a:latin typeface="Microsoft JhengHei"/>
                <a:ea typeface="Microsoft JhengHei"/>
              </a:rPr>
              <a:t>150+ 條家訪動線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B7B"/>
                </a:solidFill>
                <a:latin typeface="Microsoft JhengHei"/>
                <a:ea typeface="Microsoft JhengHei"/>
              </a:rPr>
              <a:t>靠人腦記、靠口頭交接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37560"/>
            <a:ext cx="64008" cy="969264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9632" y="3172968"/>
            <a:ext cx="5349240" cy="1298448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16324F"/>
                </a:solidFill>
                <a:latin typeface="Microsoft JhengHei"/>
                <a:ea typeface="Microsoft JhengHei"/>
              </a:rPr>
              <a:t>收班交接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B7B"/>
                </a:solidFill>
                <a:latin typeface="Microsoft JhengHei"/>
                <a:ea typeface="Microsoft JhengHei"/>
              </a:rPr>
              <a:t>沒有快照，下一梯從零開始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3337560"/>
            <a:ext cx="64008" cy="969264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956048"/>
            <a:ext cx="10908792" cy="1024128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</a:rPr>
              <a:t>代價：重複作業、漏接個案、無法回溯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457200" cy="50292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6B7B"/>
                </a:solidFill>
                <a:latin typeface="Microsoft JhengHei"/>
                <a:ea typeface="Microsoft JhengHei"/>
              </a:rPr>
              <a:t>VISION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我們正在建造什麼？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0879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5A6B7B"/>
                </a:solidFill>
                <a:latin typeface="Microsoft JhengHei"/>
                <a:ea typeface="Microsoft JhengHei"/>
              </a:rPr>
              <a:t>從紀錄管理，走向驅動運作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5A6B7B"/>
                </a:solidFill>
                <a:latin typeface="Microsoft JhengHei"/>
                <a:ea typeface="Microsoft JhengHei"/>
              </a:rPr>
              <a:t>DRMS 紀錄系統</a:t>
            </a:r>
            <a:r>
              <a:rPr sz="2700" b="1" i="0">
                <a:solidFill>
                  <a:srgbClr val="C07F1F"/>
                </a:solidFill>
                <a:latin typeface="Microsoft JhengHei"/>
                <a:ea typeface="Microsoft JhengHei"/>
              </a:rPr>
              <a:t>  ➜  </a:t>
            </a: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ADOS 作業系統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200400"/>
            <a:ext cx="10908792" cy="804672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07F1F"/>
                </a:solidFill>
                <a:latin typeface="Microsoft JhengHei"/>
                <a:ea typeface="Microsoft JhengHei"/>
              </a:rPr>
              <a:t>➔ </a:t>
            </a:r>
            <a:r>
              <a:rPr sz="1600" b="1" i="0">
                <a:solidFill>
                  <a:srgbClr val="16324F"/>
                </a:solidFill>
                <a:latin typeface="Microsoft JhengHei"/>
                <a:ea typeface="Microsoft JhengHei"/>
              </a:rPr>
              <a:t>消除斷層：</a:t>
            </a:r>
            <a:r>
              <a:rPr sz="1600" b="0" i="0">
                <a:solidFill>
                  <a:srgbClr val="5A6B7B"/>
                </a:solidFill>
                <a:latin typeface="Microsoft JhengHei"/>
                <a:ea typeface="Microsoft JhengHei"/>
              </a:rPr>
              <a:t>打通現場與戰情中心資訊鏈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69664"/>
            <a:ext cx="10908792" cy="804672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07F1F"/>
                </a:solidFill>
                <a:latin typeface="Microsoft JhengHei"/>
                <a:ea typeface="Microsoft JhengHei"/>
              </a:rPr>
              <a:t>➔ </a:t>
            </a:r>
            <a:r>
              <a:rPr sz="1600" b="1" i="0">
                <a:solidFill>
                  <a:srgbClr val="16324F"/>
                </a:solidFill>
                <a:latin typeface="Microsoft JhengHei"/>
                <a:ea typeface="Microsoft JhengHei"/>
              </a:rPr>
              <a:t>即時調度：</a:t>
            </a:r>
            <a:r>
              <a:rPr sz="1600" b="0" i="0">
                <a:solidFill>
                  <a:srgbClr val="5A6B7B"/>
                </a:solidFill>
                <a:latin typeface="Microsoft JhengHei"/>
                <a:ea typeface="Microsoft JhengHei"/>
              </a:rPr>
              <a:t>從依靠經驗，轉型為數據驅動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138928"/>
            <a:ext cx="10908792" cy="804672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07F1F"/>
                </a:solidFill>
                <a:latin typeface="Microsoft JhengHei"/>
                <a:ea typeface="Microsoft JhengHei"/>
              </a:rPr>
              <a:t>➔ </a:t>
            </a:r>
            <a:r>
              <a:rPr sz="1600" b="1" i="0">
                <a:solidFill>
                  <a:srgbClr val="16324F"/>
                </a:solidFill>
                <a:latin typeface="Microsoft JhengHei"/>
                <a:ea typeface="Microsoft JhengHei"/>
              </a:rPr>
              <a:t>事件核心：</a:t>
            </a:r>
            <a:r>
              <a:rPr sz="1600" b="0" i="0">
                <a:solidFill>
                  <a:srgbClr val="5A6B7B"/>
                </a:solidFill>
                <a:latin typeface="Microsoft JhengHei"/>
                <a:ea typeface="Microsoft JhengHei"/>
              </a:rPr>
              <a:t>以事件回饋自動修正決策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457200" cy="50292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6B7B"/>
                </a:solidFill>
                <a:latin typeface="Microsoft JhengHei"/>
                <a:ea typeface="Microsoft JhengHei"/>
              </a:rPr>
              <a:t>設計理念 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平戰一體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087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D4E89"/>
                </a:solidFill>
                <a:latin typeface="Microsoft JhengHei"/>
                <a:ea typeface="Microsoft JhengHei"/>
              </a:rPr>
              <a:t>「平時沒人用的系統，災時一定沒人會用。」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87168"/>
            <a:ext cx="3566160" cy="228600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2E7D54"/>
                </a:solidFill>
                <a:latin typeface="Microsoft JhengHei"/>
                <a:ea typeface="Microsoft JhengHei"/>
              </a:rPr>
              <a:t>平時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324F"/>
                </a:solidFill>
                <a:latin typeface="Microsoft JhengHei"/>
                <a:ea typeface="Microsoft JhengHei"/>
              </a:rPr>
              <a:t>同一套系統跑日常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A6B7B"/>
                </a:solidFill>
                <a:latin typeface="Microsoft JhengHei"/>
                <a:ea typeface="Microsoft JhengHei"/>
              </a:rPr>
              <a:t>報到、演練、物資盤點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87168"/>
            <a:ext cx="3566160" cy="128016"/>
          </a:xfrm>
          <a:prstGeom prst="rect">
            <a:avLst/>
          </a:prstGeom>
          <a:solidFill>
            <a:srgbClr val="2E7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98264" y="2487168"/>
            <a:ext cx="3566160" cy="228600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B63A2E"/>
                </a:solidFill>
                <a:latin typeface="Microsoft JhengHei"/>
                <a:ea typeface="Microsoft JhengHei"/>
              </a:rPr>
              <a:t>災時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324F"/>
                </a:solidFill>
                <a:latin typeface="Microsoft JhengHei"/>
                <a:ea typeface="Microsoft JhengHei"/>
              </a:rPr>
              <a:t>切出獨立事件庫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A6B7B"/>
                </a:solidFill>
                <a:latin typeface="Microsoft JhengHei"/>
                <a:ea typeface="Microsoft JhengHei"/>
              </a:rPr>
              <a:t>任務／個案／金援自包含，不汙染日常資料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8264" y="2487168"/>
            <a:ext cx="3566160" cy="128016"/>
          </a:xfrm>
          <a:prstGeom prst="rect">
            <a:avLst/>
          </a:prstGeom>
          <a:solidFill>
            <a:srgbClr val="B6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56448" y="2487168"/>
            <a:ext cx="3566160" cy="228600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1D4E89"/>
                </a:solidFill>
                <a:latin typeface="Microsoft JhengHei"/>
                <a:ea typeface="Microsoft JhengHei"/>
              </a:rPr>
              <a:t>結案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324F"/>
                </a:solidFill>
                <a:latin typeface="Microsoft JhengHei"/>
                <a:ea typeface="Microsoft JhengHei"/>
              </a:rPr>
              <a:t>事件封存 ➜ 演練劇本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A6B7B"/>
                </a:solidFill>
                <a:latin typeface="Microsoft JhengHei"/>
                <a:ea typeface="Microsoft JhengHei"/>
              </a:rPr>
              <a:t>匯出成劇本，回到平時訓練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56448" y="2487168"/>
            <a:ext cx="3566160" cy="12801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</a:rPr>
              <a:t>每一次真實救災，都變成下一次的演練教材</a:t>
            </a:r>
            <a:r>
              <a:rPr sz="1700" b="0" i="0">
                <a:solidFill>
                  <a:srgbClr val="C07F1F"/>
                </a:solidFill>
                <a:latin typeface="Microsoft JhengHei"/>
                <a:ea typeface="Microsoft JhengHei"/>
              </a:rPr>
              <a:t>（story ➜ drill 閉環）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457200" cy="50292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6B7B"/>
                </a:solidFill>
                <a:latin typeface="Microsoft JhengHei"/>
                <a:ea typeface="Microsoft JhengHei"/>
              </a:rPr>
              <a:t>設計理念 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LINE OA ＝ 資料路由器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0879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D4E89"/>
                </a:solidFill>
                <a:latin typeface="Microsoft JhengHei"/>
                <a:ea typeface="Microsoft JhengHei"/>
              </a:rPr>
              <a:t>「志工的手機裡，不需要多一個 APP。」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87168"/>
            <a:ext cx="10908792" cy="768096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324F"/>
                </a:solidFill>
                <a:latin typeface="Microsoft JhengHei"/>
                <a:ea typeface="Microsoft JhengHei"/>
              </a:rPr>
              <a:t>一個入口</a:t>
            </a:r>
            <a:r>
              <a:rPr sz="1450" b="0" i="0">
                <a:solidFill>
                  <a:srgbClr val="5A6B7B"/>
                </a:solidFill>
                <a:latin typeface="Microsoft JhengHei"/>
                <a:ea typeface="Microsoft JhengHei"/>
              </a:rPr>
              <a:t>　LINE 官方帳號——LINE 本身就誕生於 311 震災後的通訊需求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10908792" cy="768096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324F"/>
                </a:solidFill>
                <a:latin typeface="Microsoft JhengHei"/>
                <a:ea typeface="Microsoft JhengHei"/>
              </a:rPr>
              <a:t>六個權限面</a:t>
            </a:r>
            <a:r>
              <a:rPr sz="1450" b="0" i="0">
                <a:solidFill>
                  <a:srgbClr val="5A6B7B"/>
                </a:solidFill>
                <a:latin typeface="Microsoft JhengHei"/>
                <a:ea typeface="Microsoft JhengHei"/>
              </a:rPr>
              <a:t>　志工／班長／司機／香積／訪視／幹部——不映射組織圖，壓到最低教學成本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79392"/>
            <a:ext cx="10908792" cy="768096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324F"/>
                </a:solidFill>
                <a:latin typeface="Microsoft JhengHei"/>
                <a:ea typeface="Microsoft JhengHei"/>
              </a:rPr>
              <a:t>八個串接點</a:t>
            </a:r>
            <a:r>
              <a:rPr sz="1450" b="0" i="0">
                <a:solidFill>
                  <a:srgbClr val="5A6B7B"/>
                </a:solidFill>
                <a:latin typeface="Microsoft JhengHei"/>
                <a:ea typeface="Microsoft JhengHei"/>
              </a:rPr>
              <a:t>　報到、接單、回報、叫料、簽收、點名 SOS、交接、結案 ➜ 全部寫入唯一資料源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08792" cy="82296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C07F1F"/>
                </a:solidFill>
                <a:latin typeface="Microsoft JhengHei"/>
                <a:ea typeface="Microsoft JhengHei"/>
              </a:rPr>
              <a:t>科技的目的：把志工從表單裡解放出來，把時間還給膚慰與關懷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457200" cy="50292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6B7B"/>
                </a:solidFill>
                <a:latin typeface="Microsoft JhengHei"/>
                <a:ea typeface="Microsoft JhengHei"/>
              </a:rPr>
              <a:t>DOMAIN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我們的世界有哪些物件？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18888" y="1481328"/>
            <a:ext cx="2560320" cy="86868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20320">
            <a:solidFill>
              <a:srgbClr val="5A6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6324F"/>
                </a:solidFill>
                <a:latin typeface="Microsoft JhengHei"/>
                <a:ea typeface="Microsoft JhengHei"/>
              </a:rPr>
              <a:t>🤖 AI 智能引擎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7B"/>
                </a:solidFill>
                <a:latin typeface="Microsoft JhengHei"/>
                <a:ea typeface="Microsoft JhengHei"/>
              </a:rPr>
              <a:t>排序・建議・預測（Phase 4）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51460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6324F"/>
                </a:solidFill>
                <a:latin typeface="Microsoft JhengHei"/>
                <a:ea typeface="Microsoft JhengHei"/>
              </a:rPr>
              <a:t>👤 Person 人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7B"/>
                </a:solidFill>
                <a:latin typeface="Microsoft JhengHei"/>
                <a:ea typeface="Microsoft JhengHei"/>
              </a:rPr>
              <a:t>報到・接任務・回報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65592" y="251460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6324F"/>
                </a:solidFill>
                <a:latin typeface="Microsoft JhengHei"/>
                <a:ea typeface="Microsoft JhengHei"/>
              </a:rPr>
              <a:t>🪖 Squad 班組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7B"/>
                </a:solidFill>
                <a:latin typeface="Microsoft JhengHei"/>
                <a:ea typeface="Microsoft JhengHei"/>
              </a:rPr>
              <a:t>班長帶隊・統一接單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6008" y="2999232"/>
            <a:ext cx="2926080" cy="114300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</a:rPr>
              <a:t>📋 Task 任務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9CDE2"/>
                </a:solidFill>
                <a:latin typeface="Microsoft JhengHei"/>
                <a:ea typeface="Microsoft JhengHei"/>
              </a:rPr>
              <a:t>五體交匯・最小執行單位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79476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6324F"/>
                </a:solidFill>
                <a:latin typeface="Microsoft JhengHei"/>
                <a:ea typeface="Microsoft JhengHei"/>
              </a:rPr>
              <a:t>🏠 Case 個案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7B"/>
                </a:solidFill>
                <a:latin typeface="Microsoft JhengHei"/>
                <a:ea typeface="Microsoft JhengHei"/>
              </a:rPr>
              <a:t>受理・分診・追蹤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3794760"/>
            <a:ext cx="2651760" cy="96012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6324F"/>
                </a:solidFill>
                <a:latin typeface="Microsoft JhengHei"/>
                <a:ea typeface="Microsoft JhengHei"/>
              </a:rPr>
              <a:t>🚛 Vehicle 車輛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7B"/>
                </a:solidFill>
                <a:latin typeface="Microsoft JhengHei"/>
                <a:ea typeface="Microsoft JhengHei"/>
              </a:rPr>
              <a:t>派車・掃碼・扣庫存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498348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6324F"/>
                </a:solidFill>
                <a:latin typeface="Microsoft JhengHei"/>
                <a:ea typeface="Microsoft JhengHei"/>
              </a:rPr>
              <a:t>💰 ReliefFund 金援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7B"/>
                </a:solidFill>
                <a:latin typeface="Microsoft JhengHei"/>
                <a:ea typeface="Microsoft JhengHei"/>
              </a:rPr>
              <a:t>五步驟發放・不可刪帳本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4983480"/>
            <a:ext cx="2651760" cy="86868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16324F"/>
                </a:solidFill>
                <a:latin typeface="Microsoft JhengHei"/>
                <a:ea typeface="Microsoft JhengHei"/>
              </a:rPr>
              <a:t>🤝 Handover 交接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6B7B"/>
                </a:solidFill>
                <a:latin typeface="Microsoft JhengHei"/>
                <a:ea typeface="Microsoft JhengHei"/>
              </a:rPr>
              <a:t>收班快照・電子簽名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9087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A6B7B"/>
                </a:solidFill>
                <a:latin typeface="Microsoft JhengHei"/>
                <a:ea typeface="Microsoft JhengHei"/>
              </a:rPr>
              <a:t>輸出層：HQ 儀表板・班長 APP・志工 APP（LINE OA）・財務審計・保險・政府報告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457200" cy="50292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6B7B"/>
                </a:solidFill>
                <a:latin typeface="Microsoft JhengHei"/>
                <a:ea typeface="Microsoft JhengHei"/>
              </a:rPr>
              <a:t>EVENT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Event-Driven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5A6B7B"/>
                </a:solidFill>
                <a:latin typeface="Microsoft JhengHei"/>
                <a:ea typeface="Microsoft JhengHei"/>
              </a:rPr>
              <a:t>ADOS 不是 Workflow，而是</a:t>
            </a:r>
            <a:r>
              <a:rPr sz="1600" b="1" i="0">
                <a:solidFill>
                  <a:srgbClr val="16324F"/>
                </a:solidFill>
                <a:latin typeface="Microsoft JhengHei"/>
                <a:ea typeface="Microsoft JhengHei"/>
              </a:rPr>
              <a:t>事件觸發、決策回應</a:t>
            </a:r>
            <a:r>
              <a:rPr sz="1600" b="0" i="0">
                <a:solidFill>
                  <a:srgbClr val="5A6B7B"/>
                </a:solidFill>
                <a:latin typeface="Microsoft JhengHei"/>
                <a:ea typeface="Microsoft JhengHei"/>
              </a:rPr>
              <a:t>的動態系統。</a:t>
            </a:r>
          </a:p>
        </p:txBody>
      </p:sp>
      <p:sp>
        <p:nvSpPr>
          <p:cNvPr id="5" name="Chevron 4"/>
          <p:cNvSpPr/>
          <p:nvPr/>
        </p:nvSpPr>
        <p:spPr>
          <a:xfrm>
            <a:off x="640080" y="2651760"/>
            <a:ext cx="2084831" cy="155448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761488"/>
            <a:ext cx="1371600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07F1F"/>
                </a:solidFill>
                <a:latin typeface="Microsoft JhengHei"/>
                <a:ea typeface="Microsoft JhengHei"/>
              </a:rPr>
              <a:t>1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Disaster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Occurred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050" b="0" i="0">
                <a:solidFill>
                  <a:srgbClr val="B9CDE2"/>
                </a:solidFill>
                <a:latin typeface="Microsoft JhengHei"/>
                <a:ea typeface="Microsoft JhengHei"/>
              </a:rPr>
              <a:t>災害發生</a:t>
            </a:r>
          </a:p>
        </p:txBody>
      </p:sp>
      <p:sp>
        <p:nvSpPr>
          <p:cNvPr id="7" name="Chevron 6"/>
          <p:cNvSpPr/>
          <p:nvPr/>
        </p:nvSpPr>
        <p:spPr>
          <a:xfrm>
            <a:off x="2871215" y="2651760"/>
            <a:ext cx="2084831" cy="155448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46703" y="2761488"/>
            <a:ext cx="1371600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07F1F"/>
                </a:solidFill>
                <a:latin typeface="Microsoft JhengHei"/>
                <a:ea typeface="Microsoft JhengHei"/>
              </a:rPr>
              <a:t>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Case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Reported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050" b="0" i="0">
                <a:solidFill>
                  <a:srgbClr val="B9CDE2"/>
                </a:solidFill>
                <a:latin typeface="Microsoft JhengHei"/>
                <a:ea typeface="Microsoft JhengHei"/>
              </a:rPr>
              <a:t>案件通報</a:t>
            </a:r>
          </a:p>
        </p:txBody>
      </p:sp>
      <p:sp>
        <p:nvSpPr>
          <p:cNvPr id="9" name="Chevron 8"/>
          <p:cNvSpPr/>
          <p:nvPr/>
        </p:nvSpPr>
        <p:spPr>
          <a:xfrm>
            <a:off x="5102352" y="2651760"/>
            <a:ext cx="2084831" cy="155448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2761488"/>
            <a:ext cx="1371600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07F1F"/>
                </a:solidFill>
                <a:latin typeface="Microsoft JhengHei"/>
                <a:ea typeface="Microsoft JhengHei"/>
              </a:rPr>
              <a:t>3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Priority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Calculated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050" b="0" i="0">
                <a:solidFill>
                  <a:srgbClr val="B9CDE2"/>
                </a:solidFill>
                <a:latin typeface="Microsoft JhengHei"/>
                <a:ea typeface="Microsoft JhengHei"/>
              </a:rPr>
              <a:t>優先級計算</a:t>
            </a:r>
          </a:p>
        </p:txBody>
      </p:sp>
      <p:sp>
        <p:nvSpPr>
          <p:cNvPr id="11" name="Chevron 10"/>
          <p:cNvSpPr/>
          <p:nvPr/>
        </p:nvSpPr>
        <p:spPr>
          <a:xfrm>
            <a:off x="7333488" y="2651760"/>
            <a:ext cx="2084831" cy="155448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8975" y="2761488"/>
            <a:ext cx="1371600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07F1F"/>
                </a:solidFill>
                <a:latin typeface="Microsoft JhengHei"/>
                <a:ea typeface="Microsoft JhengHei"/>
              </a:rPr>
              <a:t>4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Squad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Dispatched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050" b="0" i="0">
                <a:solidFill>
                  <a:srgbClr val="B9CDE2"/>
                </a:solidFill>
                <a:latin typeface="Microsoft JhengHei"/>
                <a:ea typeface="Microsoft JhengHei"/>
              </a:rPr>
              <a:t>小隊派遣</a:t>
            </a:r>
          </a:p>
        </p:txBody>
      </p:sp>
      <p:sp>
        <p:nvSpPr>
          <p:cNvPr id="13" name="Chevron 12"/>
          <p:cNvSpPr/>
          <p:nvPr/>
        </p:nvSpPr>
        <p:spPr>
          <a:xfrm>
            <a:off x="9564624" y="2651760"/>
            <a:ext cx="2084831" cy="1554480"/>
          </a:xfrm>
          <a:prstGeom prst="chevron">
            <a:avLst/>
          </a:prstGeom>
          <a:solidFill>
            <a:srgbClr val="2E7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0111" y="2761488"/>
            <a:ext cx="1371600" cy="1335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C07F1F"/>
                </a:solidFill>
                <a:latin typeface="Microsoft JhengHei"/>
                <a:ea typeface="Microsoft JhengHei"/>
              </a:rPr>
              <a:t>5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Task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icrosoft JhengHei"/>
                <a:ea typeface="Microsoft JhengHei"/>
              </a:rPr>
              <a:t>Completed</a:t>
            </a:r>
          </a:p>
          <a:p>
            <a:pPr algn="ctr">
              <a:lnSpc>
                <a:spcPct val="112000"/>
              </a:lnSpc>
              <a:spcBef>
                <a:spcPts val="200"/>
              </a:spcBef>
              <a:spcAft>
                <a:spcPts val="400"/>
              </a:spcAft>
            </a:pPr>
            <a:r>
              <a:rPr sz="1050" b="0" i="0">
                <a:solidFill>
                  <a:srgbClr val="B9CDE2"/>
                </a:solidFill>
                <a:latin typeface="Microsoft JhengHei"/>
                <a:ea typeface="Microsoft JhengHei"/>
              </a:rPr>
              <a:t>任務完成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63440"/>
            <a:ext cx="10908792" cy="86868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5240">
            <a:solidFill>
              <a:srgbClr val="C0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C07F1F"/>
                </a:solidFill>
                <a:latin typeface="Microsoft JhengHei"/>
                <a:ea typeface="Microsoft JhengHei"/>
              </a:rPr>
              <a:t>↺ 事件回饋（閉環）：</a:t>
            </a:r>
            <a:r>
              <a:rPr sz="1550" b="0" i="0">
                <a:solidFill>
                  <a:srgbClr val="16324F"/>
                </a:solidFill>
                <a:latin typeface="Microsoft JhengHei"/>
                <a:ea typeface="Microsoft JhengHei"/>
              </a:rPr>
              <a:t>Task Completed ➜ 重算 Priority、沉澱成演練劇本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457200" cy="50292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6B7B"/>
                </a:solidFill>
                <a:latin typeface="Microsoft JhengHei"/>
                <a:ea typeface="Microsoft JhengHei"/>
              </a:rPr>
              <a:t>DECISION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Decision Fabric：系統的核心價值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566160" cy="310896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324F"/>
                </a:solidFill>
                <a:latin typeface="Microsoft JhengHei"/>
                <a:ea typeface="Microsoft JhengHei"/>
              </a:rPr>
              <a:t>優先級決策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B7B"/>
                </a:solidFill>
                <a:latin typeface="Microsoft JhengHei"/>
                <a:ea typeface="Microsoft JhengHei"/>
              </a:rPr>
              <a:t>評估嚴重性與時效性，自動排定處理順序（A／B／C 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566160" cy="12801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98264" y="1920240"/>
            <a:ext cx="3566160" cy="310896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324F"/>
                </a:solidFill>
                <a:latin typeface="Microsoft JhengHei"/>
                <a:ea typeface="Microsoft JhengHei"/>
              </a:rPr>
              <a:t>派遣決策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B7B"/>
                </a:solidFill>
                <a:latin typeface="Microsoft JhengHei"/>
                <a:ea typeface="Microsoft JhengHei"/>
              </a:rPr>
              <a:t>根據距離、專業技能與當前負載，推薦最適指派小隊</a:t>
            </a:r>
          </a:p>
        </p:txBody>
      </p:sp>
      <p:sp>
        <p:nvSpPr>
          <p:cNvPr id="7" name="Rectangle 6"/>
          <p:cNvSpPr/>
          <p:nvPr/>
        </p:nvSpPr>
        <p:spPr>
          <a:xfrm>
            <a:off x="4398264" y="1920240"/>
            <a:ext cx="3566160" cy="12801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56448" y="1920240"/>
            <a:ext cx="3566160" cy="310896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16324F"/>
                </a:solidFill>
                <a:latin typeface="Microsoft JhengHei"/>
                <a:ea typeface="Microsoft JhengHei"/>
              </a:rPr>
              <a:t>資源決策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5A6B7B"/>
                </a:solidFill>
                <a:latin typeface="Microsoft JhengHei"/>
                <a:ea typeface="Microsoft JhengHei"/>
              </a:rPr>
              <a:t>動態計算最優物資與載具配置，確保前線不斷鏈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6448" y="1920240"/>
            <a:ext cx="3566160" cy="12801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457200" cy="50292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6B7B"/>
                </a:solidFill>
                <a:latin typeface="Microsoft JhengHei"/>
                <a:ea typeface="Microsoft JhengHei"/>
              </a:rPr>
              <a:t>AI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AI 的定位：決策夥伴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349240" cy="420624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1" i="0">
                <a:solidFill>
                  <a:srgbClr val="C07F1F"/>
                </a:solidFill>
                <a:latin typeface="Microsoft JhengHei"/>
                <a:ea typeface="Microsoft JhengHei"/>
              </a:rPr>
              <a:t>AI 三大設計原則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</a:rPr>
              <a:t>1. 不取代 UI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B9CDE2"/>
                </a:solidFill>
                <a:latin typeface="Microsoft JhengHei"/>
                <a:ea typeface="Microsoft JhengHei"/>
              </a:rPr>
              <a:t>專注背景邏輯，不做無謂 Chatbot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</a:rPr>
              <a:t>2. 不取代人類控制權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B9CDE2"/>
                </a:solidFill>
                <a:latin typeface="Microsoft JhengHei"/>
                <a:ea typeface="Microsoft JhengHei"/>
              </a:rPr>
              <a:t>保留最終裁決權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</a:rPr>
              <a:t>3. 定位為「決策助理」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B9CDE2"/>
                </a:solidFill>
                <a:latin typeface="Microsoft JhengHei"/>
                <a:ea typeface="Microsoft JhengHei"/>
              </a:rPr>
              <a:t>最強大的參謀，不是指揮官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737360"/>
            <a:ext cx="5349240" cy="128016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D4E89"/>
                </a:solidFill>
                <a:latin typeface="Microsoft JhengHei"/>
                <a:ea typeface="Microsoft JhengHei"/>
              </a:rPr>
              <a:t>➔ 判斷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B7B"/>
                </a:solidFill>
                <a:latin typeface="Microsoft JhengHei"/>
                <a:ea typeface="Microsoft JhengHei"/>
              </a:rPr>
              <a:t>解析語音／通報，自動進行案件分流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3200400"/>
            <a:ext cx="5349240" cy="128016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D4E89"/>
                </a:solidFill>
                <a:latin typeface="Microsoft JhengHei"/>
                <a:ea typeface="Microsoft JhengHei"/>
              </a:rPr>
              <a:t>➔ 建議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B7B"/>
                </a:solidFill>
                <a:latin typeface="Microsoft JhengHei"/>
                <a:ea typeface="Microsoft JhengHei"/>
              </a:rPr>
              <a:t>推薦派遣小隊、路線與物資包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4663440"/>
            <a:ext cx="5349240" cy="128016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1D4E89"/>
                </a:solidFill>
                <a:latin typeface="Microsoft JhengHei"/>
                <a:ea typeface="Microsoft JhengHei"/>
              </a:rPr>
              <a:t>➔ 摘要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A6B7B"/>
                </a:solidFill>
                <a:latin typeface="Microsoft JhengHei"/>
                <a:ea typeface="Microsoft JhengHei"/>
              </a:rPr>
              <a:t>整理複雜情資，形成指揮官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457200" cy="50292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6B7B"/>
                </a:solidFill>
                <a:latin typeface="Microsoft JhengHei"/>
                <a:ea typeface="Microsoft JhengHei"/>
              </a:rPr>
              <a:t>ARCHITECTURE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架構：現況與目標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908792" cy="105156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 w="19050">
            <a:solidFill>
              <a:srgbClr val="C07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07F1F"/>
                </a:solidFill>
                <a:latin typeface="Microsoft JhengHei"/>
                <a:ea typeface="Microsoft JhengHei"/>
              </a:rPr>
              <a:t>現況（誠實版）　</a:t>
            </a:r>
            <a:r>
              <a:rPr sz="1500" b="0" i="0">
                <a:solidFill>
                  <a:srgbClr val="16324F"/>
                </a:solidFill>
                <a:latin typeface="Microsoft JhengHei"/>
                <a:ea typeface="Microsoft JhengHei"/>
              </a:rPr>
              <a:t>前端原型完整｜LINE OA 模擬器完整｜真實 Webhook 0%｜尚無正式後端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087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324F"/>
                </a:solidFill>
                <a:latin typeface="Microsoft JhengHei"/>
                <a:ea typeface="Microsoft JhengHei"/>
              </a:rPr>
              <a:t>目標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10908792" cy="713232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Microsoft JhengHei"/>
                <a:ea typeface="Microsoft JhengHei"/>
              </a:rPr>
              <a:t>Event Mesh 事件流中樞</a:t>
            </a:r>
            <a:r>
              <a:rPr sz="1400" b="0" i="0">
                <a:solidFill>
                  <a:srgbClr val="B9CDE2"/>
                </a:solidFill>
                <a:latin typeface="Microsoft JhengHei"/>
                <a:ea typeface="Microsoft JhengHei"/>
              </a:rPr>
              <a:t>　—　承載即時事件流的核心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24528"/>
            <a:ext cx="10908792" cy="713232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Microsoft JhengHei"/>
                <a:ea typeface="Microsoft JhengHei"/>
              </a:rPr>
              <a:t>Digital Twin 數位對照</a:t>
            </a:r>
            <a:r>
              <a:rPr sz="1400" b="0" i="0">
                <a:solidFill>
                  <a:srgbClr val="B9CDE2"/>
                </a:solidFill>
                <a:latin typeface="Microsoft JhengHei"/>
                <a:ea typeface="Microsoft JhengHei"/>
              </a:rPr>
              <a:t>　—　人、資源、地理位置的即時關係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65776"/>
            <a:ext cx="10908792" cy="713232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Microsoft JhengHei"/>
                <a:ea typeface="Microsoft JhengHei"/>
              </a:rPr>
              <a:t>AI Agent Layer 決策助理層</a:t>
            </a:r>
            <a:r>
              <a:rPr sz="1400" b="0" i="0">
                <a:solidFill>
                  <a:srgbClr val="B9CDE2"/>
                </a:solidFill>
                <a:latin typeface="Microsoft JhengHei"/>
                <a:ea typeface="Microsoft JhengHei"/>
              </a:rPr>
              <a:t>　—　判斷、建議、摘要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0879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C07F1F"/>
                </a:solidFill>
                <a:latin typeface="Microsoft JhengHei"/>
                <a:ea typeface="Microsoft JhengHei"/>
              </a:rPr>
              <a:t>今天的對齊，就是從現況走到目標的第一步：API 規格、服務邊界、Schema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457200" cy="50292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6B7B"/>
                </a:solidFill>
                <a:latin typeface="Microsoft JhengHei"/>
                <a:ea typeface="Microsoft JhengHei"/>
              </a:rPr>
              <a:t>ROADMAP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ADOS 演進路線圖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084831" cy="274320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2E7D54"/>
                </a:solidFill>
                <a:latin typeface="Microsoft JhengHei"/>
                <a:ea typeface="Microsoft JhengHei"/>
              </a:rPr>
              <a:t>已上線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A6B7B"/>
                </a:solidFill>
                <a:latin typeface="Microsoft JhengHei"/>
                <a:ea typeface="Microsoft JhengHei"/>
              </a:rPr>
              <a:t>報到・個案・車輛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A6B7B"/>
                </a:solidFill>
                <a:latin typeface="Microsoft JhengHei"/>
                <a:ea typeface="Microsoft JhengHei"/>
              </a:rPr>
              <a:t>任務・HQ 儀表板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2084831" cy="128016"/>
          </a:xfrm>
          <a:prstGeom prst="rect">
            <a:avLst/>
          </a:prstGeom>
          <a:solidFill>
            <a:srgbClr val="2E7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71215" y="2103120"/>
            <a:ext cx="2084831" cy="274320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D4E89"/>
                </a:solidFill>
                <a:latin typeface="Microsoft JhengHei"/>
                <a:ea typeface="Microsoft JhengHei"/>
              </a:rPr>
              <a:t>Phase 0-A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A6B7B"/>
                </a:solidFill>
                <a:latin typeface="Microsoft JhengHei"/>
                <a:ea typeface="Microsoft JhengHei"/>
              </a:rPr>
              <a:t>Squad 班組 schema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A6B7B"/>
                </a:solidFill>
                <a:latin typeface="Microsoft JhengHei"/>
                <a:ea typeface="Microsoft JhengHei"/>
              </a:rPr>
              <a:t>班長行動端 5 顆按鈕</a:t>
            </a:r>
          </a:p>
        </p:txBody>
      </p:sp>
      <p:sp>
        <p:nvSpPr>
          <p:cNvPr id="7" name="Rectangle 6"/>
          <p:cNvSpPr/>
          <p:nvPr/>
        </p:nvSpPr>
        <p:spPr>
          <a:xfrm>
            <a:off x="2871215" y="2103120"/>
            <a:ext cx="2084831" cy="12801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02352" y="2103120"/>
            <a:ext cx="2084831" cy="274320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D4E89"/>
                </a:solidFill>
                <a:latin typeface="Microsoft JhengHei"/>
                <a:ea typeface="Microsoft JhengHei"/>
              </a:rPr>
              <a:t>Phase 1-D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A6B7B"/>
                </a:solidFill>
                <a:latin typeface="Microsoft JhengHei"/>
                <a:ea typeface="Microsoft JhengHei"/>
              </a:rPr>
              <a:t>Handover 交接快照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A6B7B"/>
                </a:solidFill>
                <a:latin typeface="Microsoft JhengHei"/>
                <a:ea typeface="Microsoft JhengHei"/>
              </a:rPr>
              <a:t>電子簽名・不可修改</a:t>
            </a:r>
          </a:p>
        </p:txBody>
      </p:sp>
      <p:sp>
        <p:nvSpPr>
          <p:cNvPr id="9" name="Rectangle 8"/>
          <p:cNvSpPr/>
          <p:nvPr/>
        </p:nvSpPr>
        <p:spPr>
          <a:xfrm>
            <a:off x="5102352" y="2103120"/>
            <a:ext cx="2084831" cy="12801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33488" y="2103120"/>
            <a:ext cx="2084831" cy="274320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D4E89"/>
                </a:solidFill>
                <a:latin typeface="Microsoft JhengHei"/>
                <a:ea typeface="Microsoft JhengHei"/>
              </a:rPr>
              <a:t>Phase 3-A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A6B7B"/>
                </a:solidFill>
                <a:latin typeface="Microsoft JhengHei"/>
                <a:ea typeface="Microsoft JhengHei"/>
              </a:rPr>
              <a:t>ReliefFund 五步驟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A6B7B"/>
                </a:solidFill>
                <a:latin typeface="Microsoft JhengHei"/>
                <a:ea typeface="Microsoft JhengHei"/>
              </a:rPr>
              <a:t>不可刪帳本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33488" y="2103120"/>
            <a:ext cx="2084831" cy="12801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64624" y="2103120"/>
            <a:ext cx="2084831" cy="274320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C07F1F"/>
                </a:solidFill>
                <a:latin typeface="Microsoft JhengHei"/>
                <a:ea typeface="Microsoft JhengHei"/>
              </a:rPr>
              <a:t>Phase 4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A6B7B"/>
                </a:solidFill>
                <a:latin typeface="Microsoft JhengHei"/>
                <a:ea typeface="Microsoft JhengHei"/>
              </a:rPr>
              <a:t>AI 引擎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A6B7B"/>
                </a:solidFill>
                <a:latin typeface="Microsoft JhengHei"/>
                <a:ea typeface="Microsoft JhengHei"/>
              </a:rPr>
              <a:t>（需 3+ 次真實出班資料）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64624" y="2103120"/>
            <a:ext cx="2084831" cy="128016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6324F"/>
                </a:solidFill>
                <a:latin typeface="Microsoft JhengHei"/>
                <a:ea typeface="Microsoft JhengHei"/>
              </a:rPr>
              <a:t>每一階段都以「真實出班」驗證後才進下一階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457200" cy="50292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6B7B"/>
                </a:solidFill>
                <a:latin typeface="Microsoft JhengHei"/>
                <a:ea typeface="Microsoft JhengHei"/>
              </a:rPr>
              <a:t>GOALS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今日核心目標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087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5A6B7B"/>
                </a:solidFill>
                <a:latin typeface="Microsoft JhengHei"/>
                <a:ea typeface="Microsoft JhengHei"/>
              </a:rPr>
              <a:t>工作坊結束前，團隊必須共同明確回答這四個核心問題：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349240" cy="173736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C07F1F"/>
                </a:solidFill>
                <a:latin typeface="Microsoft JhengHei"/>
                <a:ea typeface="Microsoft JhengHei"/>
              </a:rPr>
              <a:t>01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324F"/>
                </a:solidFill>
                <a:latin typeface="Microsoft JhengHei"/>
                <a:ea typeface="Microsoft JhengHei"/>
              </a:rPr>
              <a:t>Domain 定義對嗎？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2194560"/>
            <a:ext cx="5349240" cy="173736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C07F1F"/>
                </a:solidFill>
                <a:latin typeface="Microsoft JhengHei"/>
                <a:ea typeface="Microsoft JhengHei"/>
              </a:rPr>
              <a:t>02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324F"/>
                </a:solidFill>
                <a:latin typeface="Microsoft JhengHei"/>
                <a:ea typeface="Microsoft JhengHei"/>
              </a:rPr>
              <a:t>Event 完整嗎？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49240" cy="173736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C07F1F"/>
                </a:solidFill>
                <a:latin typeface="Microsoft JhengHei"/>
                <a:ea typeface="Microsoft JhengHei"/>
              </a:rPr>
              <a:t>03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324F"/>
                </a:solidFill>
                <a:latin typeface="Microsoft JhengHei"/>
                <a:ea typeface="Microsoft JhengHei"/>
              </a:rPr>
              <a:t>Decision 權責清楚嗎？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114800"/>
            <a:ext cx="5349240" cy="173736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C07F1F"/>
                </a:solidFill>
                <a:latin typeface="Microsoft JhengHei"/>
                <a:ea typeface="Microsoft JhengHei"/>
              </a:rPr>
              <a:t>04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324F"/>
                </a:solidFill>
                <a:latin typeface="Microsoft JhengHei"/>
                <a:ea typeface="Microsoft JhengHei"/>
              </a:rPr>
              <a:t>下個 Sprint 做什麼？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457200" cy="50292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6B7B"/>
                </a:solidFill>
                <a:latin typeface="Microsoft JhengHei"/>
                <a:ea typeface="Microsoft JhengHei"/>
              </a:rPr>
              <a:t>NEXT ACTIONS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會後行動：實踐共享語言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908792" cy="86868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07F1F"/>
                </a:solidFill>
                <a:latin typeface="Microsoft JhengHei"/>
                <a:ea typeface="Microsoft JhengHei"/>
              </a:rPr>
              <a:t>1　</a:t>
            </a:r>
            <a:r>
              <a:rPr sz="1700" b="1" i="0">
                <a:solidFill>
                  <a:srgbClr val="16324F"/>
                </a:solidFill>
                <a:latin typeface="Microsoft JhengHei"/>
                <a:ea typeface="Microsoft JhengHei"/>
              </a:rPr>
              <a:t>撰寫 Architecture Decision Record（ADR）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80360"/>
            <a:ext cx="10908792" cy="86868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07F1F"/>
                </a:solidFill>
                <a:latin typeface="Microsoft JhengHei"/>
                <a:ea typeface="Microsoft JhengHei"/>
              </a:rPr>
              <a:t>2　</a:t>
            </a:r>
            <a:r>
              <a:rPr sz="1700" b="1" i="0">
                <a:solidFill>
                  <a:srgbClr val="16324F"/>
                </a:solidFill>
                <a:latin typeface="Microsoft JhengHei"/>
                <a:ea typeface="Microsoft JhengHei"/>
              </a:rPr>
              <a:t>定義 API 規格與服務邊界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931920"/>
            <a:ext cx="10908792" cy="86868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07F1F"/>
                </a:solidFill>
                <a:latin typeface="Microsoft JhengHei"/>
                <a:ea typeface="Microsoft JhengHei"/>
              </a:rPr>
              <a:t>3　</a:t>
            </a:r>
            <a:r>
              <a:rPr sz="1700" b="1" i="0">
                <a:solidFill>
                  <a:srgbClr val="16324F"/>
                </a:solidFill>
                <a:latin typeface="Microsoft JhengHei"/>
                <a:ea typeface="Microsoft JhengHei"/>
              </a:rPr>
              <a:t>設計符合作業系統願景的 Database 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983479"/>
            <a:ext cx="10908792" cy="86868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C07F1F"/>
                </a:solidFill>
                <a:latin typeface="Microsoft JhengHei"/>
                <a:ea typeface="Microsoft JhengHei"/>
              </a:rPr>
              <a:t>4　</a:t>
            </a:r>
            <a:r>
              <a:rPr sz="1700" b="1" i="0">
                <a:solidFill>
                  <a:srgbClr val="16324F"/>
                </a:solidFill>
                <a:latin typeface="Microsoft JhengHei"/>
                <a:ea typeface="Microsoft JhengHei"/>
              </a:rPr>
              <a:t>快速產出 Prototype 概念驗證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999439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</a:pPr>
            <a:r>
              <a:rPr sz="1600" b="1" i="0">
                <a:solidFill>
                  <a:srgbClr val="C07F1F"/>
                </a:solidFill>
                <a:latin typeface="Microsoft JhengHei"/>
                <a:ea typeface="Microsoft JhengHei"/>
              </a:rPr>
              <a:t>ADOS Principle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「不打造另一個管理系統，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</a:rPr>
              <a:t>而是打造災害應變的作業系統。」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457200" cy="50292"/>
          </a:xfrm>
          <a:prstGeom prst="rect">
            <a:avLst/>
          </a:prstGeom>
          <a:solidFill>
            <a:srgbClr val="C07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A6B7B"/>
                </a:solidFill>
                <a:latin typeface="Microsoft JhengHei"/>
                <a:ea typeface="Microsoft JhengHei"/>
              </a:rPr>
              <a:t>附錄・備而不發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324F"/>
                </a:solidFill>
                <a:latin typeface="Microsoft JhengHei"/>
                <a:ea typeface="Microsoft JhengHei"/>
              </a:rPr>
              <a:t>戰時授權——差分，不是複製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908792" cy="868680"/>
          </a:xfrm>
          <a:prstGeom prst="roundRect">
            <a:avLst>
              <a:gd name="adj" fmla="val 10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</a:rPr>
              <a:t>授權矩陣 ＝ 角色 × 動作 × 金額級距 × 情境（平時／戰時）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087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324F"/>
                </a:solidFill>
                <a:latin typeface="Microsoft JhengHei"/>
                <a:ea typeface="Microsoft JhengHei"/>
              </a:rPr>
              <a:t>戰時不是全面放寬——有放有收：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46120"/>
            <a:ext cx="10908792" cy="7772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7D54"/>
                </a:solidFill>
                <a:latin typeface="Microsoft JhengHei"/>
                <a:ea typeface="Microsoft JhengHei"/>
              </a:rPr>
              <a:t>放　</a:t>
            </a:r>
            <a:r>
              <a:rPr sz="1450" b="0" i="0">
                <a:solidFill>
                  <a:srgbClr val="16324F"/>
                </a:solidFill>
                <a:latin typeface="Microsoft JhengHei"/>
                <a:ea typeface="Microsoft JhengHei"/>
              </a:rPr>
              <a:t>組長核准上限提高（幅度今天表決）＋全案標記「戰時放寬」＋48h 補審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10908792" cy="7772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63A2E"/>
                </a:solidFill>
                <a:latin typeface="Microsoft JhengHei"/>
                <a:ea typeface="Microsoft JhengHei"/>
              </a:rPr>
              <a:t>收　</a:t>
            </a:r>
            <a:r>
              <a:rPr sz="1450" b="0" i="0">
                <a:solidFill>
                  <a:srgbClr val="16324F"/>
                </a:solidFill>
                <a:latin typeface="Microsoft JhengHei"/>
                <a:ea typeface="Microsoft JhengHei"/>
              </a:rPr>
              <a:t>master 資料鎖唯讀（單一資訊流）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08792" cy="777240"/>
          </a:xfrm>
          <a:prstGeom prst="roundRect">
            <a:avLst>
              <a:gd name="adj" fmla="val 10000"/>
            </a:avLst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09728" tIns="54864" bIns="54864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B63A2E"/>
                </a:solidFill>
                <a:latin typeface="Microsoft JhengHei"/>
                <a:ea typeface="Microsoft JhengHei"/>
              </a:rPr>
              <a:t>收　</a:t>
            </a:r>
            <a:r>
              <a:rPr sz="1450" b="0" i="0">
                <a:solidFill>
                  <a:srgbClr val="16324F"/>
                </a:solidFill>
                <a:latin typeface="Microsoft JhengHei"/>
                <a:ea typeface="Microsoft JhengHei"/>
              </a:rPr>
              <a:t>解除戰時比進入更嚴（僅 admin）——避免誤觸清空戰時狀態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9087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A6B7B"/>
                </a:solidFill>
                <a:latin typeface="Microsoft JhengHei"/>
                <a:ea typeface="Microsoft JhengHei"/>
              </a:rPr>
              <a:t>＝今日核心目標第 3 題「Decision 權責清楚嗎」要各位表決的東西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TC-DRMS v5 ADOS 架構對齊工作坊（修訂版）</dc:title>
  <dc:subject/>
  <dc:creator>Mason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